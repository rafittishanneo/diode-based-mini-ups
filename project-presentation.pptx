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66" r:id="rId6"/>
    <p:sldId id="257" r:id="rId7"/>
    <p:sldId id="259" r:id="rId8"/>
    <p:sldId id="267" r:id="rId9"/>
    <p:sldId id="272" r:id="rId10"/>
    <p:sldId id="260" r:id="rId11"/>
    <p:sldId id="261" r:id="rId12"/>
    <p:sldId id="263" r:id="rId13"/>
    <p:sldId id="269" r:id="rId14"/>
    <p:sldId id="271" r:id="rId15"/>
  </p:sldIdLst>
  <p:sldSz cx="14630400" cy="8229600"/>
  <p:notesSz cx="8229600" cy="14630400"/>
  <p:embeddedFontLst>
    <p:embeddedFont>
      <p:font typeface="Mukta Light" panose="020B0604020202020204" charset="0"/>
      <p:regular r:id="rId17"/>
    </p:embeddedFont>
    <p:embeddedFont>
      <p:font typeface="Prompt Medium" panose="00000600000000000000" pitchFamily="2" charset="-34"/>
      <p:regular r:id="rId18"/>
      <p: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B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17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199EA-C475-53A8-A4B0-EA0C44581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3AABC-2046-4469-C8CD-E375475AF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D2A53-2037-17B8-7F96-5DCA7683F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91A3B-A764-C7D8-DC08-394D911A67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64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270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6" y="809741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Mini UPS Demonstration</a:t>
            </a:r>
          </a:p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cs typeface="Prompt Medium" pitchFamily="34" charset="-120"/>
              </a:rPr>
              <a:t>Using Diode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5" y="2643553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Presented By: Group 4</a:t>
            </a:r>
            <a:endParaRPr lang="en-US" sz="2800" b="1" dirty="0"/>
          </a:p>
        </p:txBody>
      </p:sp>
      <p:sp>
        <p:nvSpPr>
          <p:cNvPr id="5" name="Text 2"/>
          <p:cNvSpPr/>
          <p:nvPr/>
        </p:nvSpPr>
        <p:spPr>
          <a:xfrm>
            <a:off x="864037" y="3300113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89FCE-80E0-7F6E-4034-4245397E3700}"/>
              </a:ext>
            </a:extLst>
          </p:cNvPr>
          <p:cNvSpPr txBox="1"/>
          <p:nvPr/>
        </p:nvSpPr>
        <p:spPr>
          <a:xfrm>
            <a:off x="3893634" y="4016269"/>
            <a:ext cx="400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C6BFE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70BB52-C564-3001-4122-2D6434C3C022}"/>
              </a:ext>
            </a:extLst>
          </p:cNvPr>
          <p:cNvSpPr txBox="1"/>
          <p:nvPr/>
        </p:nvSpPr>
        <p:spPr>
          <a:xfrm>
            <a:off x="1895707" y="557561"/>
            <a:ext cx="10247971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300" dirty="0">
                <a:solidFill>
                  <a:srgbClr val="C6BFEE"/>
                </a:solidFill>
                <a:latin typeface="Prompt Medium" panose="00000600000000000000" pitchFamily="2" charset="-34"/>
                <a:cs typeface="Prompt Medium" panose="00000600000000000000" pitchFamily="2" charset="-34"/>
              </a:rPr>
              <a:t> 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E9C5A6-6F57-B3E6-8EA9-C63BCA3A23C9}"/>
              </a:ext>
            </a:extLst>
          </p:cNvPr>
          <p:cNvSpPr txBox="1"/>
          <p:nvPr/>
        </p:nvSpPr>
        <p:spPr>
          <a:xfrm>
            <a:off x="925861" y="2017441"/>
            <a:ext cx="105676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3200" b="1" dirty="0">
                <a:solidFill>
                  <a:srgbClr val="C6BFEE"/>
                </a:solidFill>
              </a:rPr>
              <a:t>Motivation</a:t>
            </a:r>
          </a:p>
          <a:p>
            <a:pPr marL="342900" indent="-342900">
              <a:buAutoNum type="arabicParenR"/>
            </a:pPr>
            <a:r>
              <a:rPr lang="en-US" sz="3200" b="1" dirty="0">
                <a:solidFill>
                  <a:srgbClr val="C6BFEE"/>
                </a:solidFill>
              </a:rPr>
              <a:t>Theory</a:t>
            </a:r>
          </a:p>
          <a:p>
            <a:pPr marL="342900" indent="-342900">
              <a:buAutoNum type="arabicParenR"/>
            </a:pPr>
            <a:r>
              <a:rPr lang="en-US" sz="3200" b="1" dirty="0">
                <a:solidFill>
                  <a:srgbClr val="C6BFEE"/>
                </a:solidFill>
              </a:rPr>
              <a:t>Circuit Components</a:t>
            </a:r>
          </a:p>
          <a:p>
            <a:pPr marL="342900" indent="-342900">
              <a:buFontTx/>
              <a:buAutoNum type="arabicParenR"/>
            </a:pPr>
            <a:r>
              <a:rPr lang="en-US" sz="3200" b="1" dirty="0">
                <a:solidFill>
                  <a:srgbClr val="C6BFEE"/>
                </a:solidFill>
              </a:rPr>
              <a:t>Methodology</a:t>
            </a:r>
          </a:p>
          <a:p>
            <a:pPr marL="342900" indent="-342900">
              <a:buAutoNum type="arabicParenR"/>
            </a:pPr>
            <a:r>
              <a:rPr lang="en-US" sz="3200" b="1" dirty="0">
                <a:solidFill>
                  <a:srgbClr val="C6BFEE"/>
                </a:solidFill>
              </a:rPr>
              <a:t>Circuit Diagram &amp; Simulation</a:t>
            </a:r>
          </a:p>
          <a:p>
            <a:pPr marL="342900" indent="-342900">
              <a:buAutoNum type="arabicParenR"/>
            </a:pPr>
            <a:r>
              <a:rPr lang="en-US" sz="3200" b="1" dirty="0">
                <a:solidFill>
                  <a:srgbClr val="C6BFEE"/>
                </a:solidFill>
              </a:rPr>
              <a:t>Results &amp; Calculation</a:t>
            </a:r>
          </a:p>
          <a:p>
            <a:pPr marL="342900" indent="-342900">
              <a:buAutoNum type="arabicParenR"/>
            </a:pPr>
            <a:r>
              <a:rPr lang="en-US" sz="3200" b="1" dirty="0">
                <a:solidFill>
                  <a:srgbClr val="C6BFEE"/>
                </a:solidFill>
              </a:rPr>
              <a:t>Discussion &amp; Future Improvements</a:t>
            </a:r>
          </a:p>
          <a:p>
            <a:pPr marL="342900" indent="-342900">
              <a:buAutoNum type="arabicParenR"/>
            </a:pPr>
            <a:r>
              <a:rPr lang="en-US" sz="3200" b="1" dirty="0">
                <a:solidFill>
                  <a:srgbClr val="C6BFEE"/>
                </a:solidFill>
              </a:rPr>
              <a:t>Conclusion</a:t>
            </a:r>
          </a:p>
          <a:p>
            <a:pPr marL="342900" indent="-342900">
              <a:buAutoNum type="arabicParenR"/>
            </a:pPr>
            <a:endParaRPr lang="en-US" sz="3200" b="1" dirty="0">
              <a:solidFill>
                <a:srgbClr val="C6BFE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683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398" y="558998"/>
            <a:ext cx="11960781" cy="564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cs typeface="Prompt Medium" pitchFamily="34" charset="-120"/>
              </a:rPr>
              <a:t>MOTIVATION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470263" y="1381397"/>
            <a:ext cx="6844937" cy="6015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cuts are unpredictable: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 a brief interruption can reset microcontrollers, corrupt stored data</a:t>
            </a:r>
          </a:p>
          <a:p>
            <a:pPr marL="342900" indent="-342900">
              <a:lnSpc>
                <a:spcPts val="255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&amp; smart devices are vulnerable: 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Sensors, smart home hubs, and medical monitors require uninterrupted power to function correctly</a:t>
            </a:r>
          </a:p>
          <a:p>
            <a:pPr>
              <a:lnSpc>
                <a:spcPts val="2550"/>
              </a:lnSpc>
            </a:pPr>
            <a:endParaRPr lang="en-US" sz="2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resilience: 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simple diode-capacitor-battery circuit can provide reliable backup at minimal cost compared to commercial UPS units.</a:t>
            </a:r>
          </a:p>
          <a:p>
            <a:pPr marL="342900" indent="-342900">
              <a:lnSpc>
                <a:spcPts val="255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real-world power systems: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this small circuit builds the basic for designing larger, industrial-grade UPS and power backup systems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3D3E1B-9B6A-3CE1-7633-3B1119480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459" y="1381397"/>
            <a:ext cx="6656054" cy="5466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006" y="1033658"/>
            <a:ext cx="7471767" cy="402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dirty="0">
                <a:solidFill>
                  <a:srgbClr val="C6BFEE"/>
                </a:solidFill>
                <a:latin typeface="Prompt Medium" panose="00000600000000000000" pitchFamily="2" charset="-34"/>
                <a:cs typeface="Prompt Medium" panose="00000600000000000000" pitchFamily="2" charset="-34"/>
              </a:rPr>
              <a:t>Theory: Diode Working Principle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A73062-8BC3-C7B9-CE36-59CDC8DCC74E}"/>
              </a:ext>
            </a:extLst>
          </p:cNvPr>
          <p:cNvSpPr txBox="1"/>
          <p:nvPr/>
        </p:nvSpPr>
        <p:spPr>
          <a:xfrm>
            <a:off x="494506" y="1847496"/>
            <a:ext cx="798909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diode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two-terminal semiconductor device that allows current to flow in </a:t>
            </a: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one direction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from Anode (+) to Cathode (−)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made of a </a:t>
            </a: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P-N junction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P-side has majority positive holes and the N-side has majority electrons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Bias: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positive voltage is applied to the anode, the junction barrier breaks down and current flows freely; a silicon diode has a </a:t>
            </a: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0.7V forward voltage drop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 Bias: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negative voltage is applied to the anode, the junction widens and </a:t>
            </a: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blocks current flow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entirely — this is the key property used in our circuit </a:t>
            </a:r>
          </a:p>
          <a:p>
            <a:endParaRPr lang="en-US" sz="2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BB0F76-C3BF-A2D4-171B-F6F1CF666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2700" y="2005012"/>
            <a:ext cx="5384800" cy="4219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A0ADF4-771B-0BA7-1249-3D2F936A221B}"/>
              </a:ext>
            </a:extLst>
          </p:cNvPr>
          <p:cNvSpPr txBox="1"/>
          <p:nvPr/>
        </p:nvSpPr>
        <p:spPr>
          <a:xfrm>
            <a:off x="1248937" y="535259"/>
            <a:ext cx="118537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6BFEE"/>
                </a:solidFill>
                <a:latin typeface="Prompt Medium" panose="00000600000000000000" pitchFamily="2" charset="-34"/>
                <a:cs typeface="Prompt Medium" panose="00000600000000000000" pitchFamily="2" charset="-34"/>
              </a:rPr>
              <a:t>Circuit Components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B6E655-07B0-C3DC-957E-4F295041E5F8}"/>
              </a:ext>
            </a:extLst>
          </p:cNvPr>
          <p:cNvSpPr txBox="1"/>
          <p:nvPr/>
        </p:nvSpPr>
        <p:spPr>
          <a:xfrm>
            <a:off x="1019717" y="1713571"/>
            <a:ext cx="1171993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 Power Supply (12 V) </a:t>
            </a: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main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 Battery (9 V) </a:t>
            </a: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backup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Diodes (2 × 1N4007) </a:t>
            </a: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for automatic source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Capacitor (1000 µF, electrolytic</a:t>
            </a: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– for charge storage and smooth transition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5mm LED </a:t>
            </a: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as the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Connecting Wires </a:t>
            </a: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for circuit connections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Multisim Software </a:t>
            </a: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for simulation and analysis</a:t>
            </a:r>
          </a:p>
        </p:txBody>
      </p:sp>
    </p:spTree>
    <p:extLst>
      <p:ext uri="{BB962C8B-B14F-4D97-AF65-F5344CB8AC3E}">
        <p14:creationId xmlns:p14="http://schemas.microsoft.com/office/powerpoint/2010/main" val="3975169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D70DC-568D-42D8-A899-F16BF6598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72C979E-66DA-D2C8-701F-F76B4FEB23D2}"/>
              </a:ext>
            </a:extLst>
          </p:cNvPr>
          <p:cNvSpPr/>
          <p:nvPr/>
        </p:nvSpPr>
        <p:spPr>
          <a:xfrm>
            <a:off x="685006" y="777270"/>
            <a:ext cx="12427744" cy="402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150"/>
              </a:lnSpc>
            </a:pPr>
            <a:r>
              <a:rPr lang="en-US" sz="3200" b="1" dirty="0">
                <a:solidFill>
                  <a:srgbClr val="C6BF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9C7A88-DB29-5663-76C0-8FC7334AC7AA}"/>
              </a:ext>
            </a:extLst>
          </p:cNvPr>
          <p:cNvSpPr txBox="1"/>
          <p:nvPr/>
        </p:nvSpPr>
        <p:spPr>
          <a:xfrm>
            <a:off x="553991" y="1512242"/>
            <a:ext cx="7962900" cy="59400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First: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circuit was first built and tested on 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Multisim software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verify theoretical calculations before physical construction </a:t>
            </a:r>
          </a:p>
          <a:p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Mode: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12V main supply was switched ON — Diode 1 conduct current, powering the LED and the capacitor charged up fully</a:t>
            </a:r>
          </a:p>
          <a:p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Backup Mode: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main supply switch was turned OFF, the capacitor power the load, keeping the LED on and then Diode 2 takes over, voltage dropped below 9V, seamlessly switching to battery power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Output voltage, LED current, and battery current were measured and recorded for both Normal Mode and Backup Mode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Comparison: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Theoretical calculated values were compared against simulation results to verify accuracy and understand any discrepancies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diodes ensured no reverse current flowed, the capacitor provided a smooth transition, and the system switched automatically without any manual intervention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2CC5CA-4346-8D02-A8BD-A748B3EA6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891" y="1788622"/>
            <a:ext cx="5649959" cy="50058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A0AA2B-02FC-4B6B-CBC8-08E34E2158A3}"/>
              </a:ext>
            </a:extLst>
          </p:cNvPr>
          <p:cNvSpPr txBox="1"/>
          <p:nvPr/>
        </p:nvSpPr>
        <p:spPr>
          <a:xfrm>
            <a:off x="9328150" y="6990665"/>
            <a:ext cx="408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</p:txBody>
      </p:sp>
    </p:spTree>
    <p:extLst>
      <p:ext uri="{BB962C8B-B14F-4D97-AF65-F5344CB8AC3E}">
        <p14:creationId xmlns:p14="http://schemas.microsoft.com/office/powerpoint/2010/main" val="216689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3533" y="505658"/>
            <a:ext cx="13298414" cy="510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Simulation: Circuit Behavior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91DB63-0FE9-A9A6-41C5-466AF9D8C066}"/>
              </a:ext>
            </a:extLst>
          </p:cNvPr>
          <p:cNvSpPr txBox="1"/>
          <p:nvPr/>
        </p:nvSpPr>
        <p:spPr>
          <a:xfrm>
            <a:off x="643533" y="6603380"/>
            <a:ext cx="6239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Normal Mode (12V 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16707C-F02D-E00A-3757-A2D64E088F08}"/>
              </a:ext>
            </a:extLst>
          </p:cNvPr>
          <p:cNvSpPr txBox="1"/>
          <p:nvPr/>
        </p:nvSpPr>
        <p:spPr>
          <a:xfrm>
            <a:off x="7524750" y="6587991"/>
            <a:ext cx="6417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Backup Mode (9V 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6B42DB-3921-9EFF-B87F-CD14922AB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0" y="1784049"/>
            <a:ext cx="6417197" cy="4305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5D2445-050B-4775-7C23-31AED045E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33" y="1784049"/>
            <a:ext cx="6239867" cy="43059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C979F1-95F2-380F-B384-15F3DE97D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146967"/>
              </p:ext>
            </p:extLst>
          </p:nvPr>
        </p:nvGraphicFramePr>
        <p:xfrm>
          <a:off x="762000" y="4261844"/>
          <a:ext cx="12160250" cy="3258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1971">
                  <a:extLst>
                    <a:ext uri="{9D8B030D-6E8A-4147-A177-3AD203B41FA5}">
                      <a16:colId xmlns:a16="http://schemas.microsoft.com/office/drawing/2014/main" val="4269057602"/>
                    </a:ext>
                  </a:extLst>
                </a:gridCol>
                <a:gridCol w="3041971">
                  <a:extLst>
                    <a:ext uri="{9D8B030D-6E8A-4147-A177-3AD203B41FA5}">
                      <a16:colId xmlns:a16="http://schemas.microsoft.com/office/drawing/2014/main" val="3807786822"/>
                    </a:ext>
                  </a:extLst>
                </a:gridCol>
                <a:gridCol w="2930494">
                  <a:extLst>
                    <a:ext uri="{9D8B030D-6E8A-4147-A177-3AD203B41FA5}">
                      <a16:colId xmlns:a16="http://schemas.microsoft.com/office/drawing/2014/main" val="3389830310"/>
                    </a:ext>
                  </a:extLst>
                </a:gridCol>
                <a:gridCol w="3145814">
                  <a:extLst>
                    <a:ext uri="{9D8B030D-6E8A-4147-A177-3AD203B41FA5}">
                      <a16:colId xmlns:a16="http://schemas.microsoft.com/office/drawing/2014/main" val="2024217958"/>
                    </a:ext>
                  </a:extLst>
                </a:gridCol>
              </a:tblGrid>
              <a:tr h="103505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  <a:p>
                      <a:pPr algn="ctr"/>
                      <a:r>
                        <a:rPr lang="en-US" sz="2400"/>
                        <a:t>Mode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Output 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Battery Current</a:t>
                      </a:r>
                    </a:p>
                    <a:p>
                      <a:pPr algn="ctr"/>
                      <a:r>
                        <a:rPr lang="en-US" sz="2000" dirty="0"/>
                        <a:t>(theoretical value)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Battery Current</a:t>
                      </a:r>
                    </a:p>
                    <a:p>
                      <a:pPr algn="ctr"/>
                      <a:r>
                        <a:rPr lang="en-US" sz="2000" dirty="0"/>
                        <a:t>(simulation value)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048037"/>
                  </a:ext>
                </a:extLst>
              </a:tr>
              <a:tr h="103505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12V (On)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/>
                    </a:p>
                    <a:p>
                      <a:pPr algn="ctr"/>
                      <a:r>
                        <a:rPr lang="en-US" sz="2000" b="1"/>
                        <a:t>11.3V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  <a:p>
                      <a:pPr algn="ctr"/>
                      <a:r>
                        <a:rPr lang="en-US" sz="2000" b="1" dirty="0"/>
                        <a:t>0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  <a:p>
                      <a:pPr algn="ctr"/>
                      <a:r>
                        <a:rPr lang="en-US" sz="2000" b="1" dirty="0"/>
                        <a:t>3.55 </a:t>
                      </a:r>
                      <a:r>
                        <a:rPr lang="en-US" sz="2000" b="1" dirty="0" err="1"/>
                        <a:t>uA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996303"/>
                  </a:ext>
                </a:extLst>
              </a:tr>
              <a:tr h="103505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9V (ON)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  <a:p>
                      <a:pPr algn="ctr"/>
                      <a:r>
                        <a:rPr lang="en-US" sz="2000" b="1" dirty="0"/>
                        <a:t>8.3V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  <a:p>
                      <a:pPr algn="ctr"/>
                      <a:r>
                        <a:rPr lang="en-US" sz="2000" b="1" dirty="0"/>
                        <a:t>9.7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  <a:p>
                      <a:pPr algn="ctr"/>
                      <a:r>
                        <a:rPr lang="en-US" sz="2000" b="1" dirty="0"/>
                        <a:t>9.7588 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04005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6B02D28-5D9A-CADD-8204-DDD606538B8D}"/>
              </a:ext>
            </a:extLst>
          </p:cNvPr>
          <p:cNvSpPr txBox="1"/>
          <p:nvPr/>
        </p:nvSpPr>
        <p:spPr>
          <a:xfrm>
            <a:off x="703817" y="2145030"/>
            <a:ext cx="6271855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Normal Mode (12V ON):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rgbClr val="C6BFEE"/>
                </a:solidFill>
              </a:rPr>
              <a:t>Output Voltage: ( 12V - 0.7V = 11.3V 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rgbClr val="C6BFEE"/>
                </a:solidFill>
              </a:rPr>
              <a:t>Resistor Voltage: ( 11.3V - 2V = 9.3V 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rgbClr val="C6BFEE"/>
                </a:solidFill>
              </a:rPr>
              <a:t>Battery Current: 0mA (diode reverse-biased, blocks battery).</a:t>
            </a:r>
          </a:p>
          <a:p>
            <a:endParaRPr lang="en-US" dirty="0">
              <a:solidFill>
                <a:srgbClr val="C6BFEE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54ECB5-7FBD-E51B-2D90-3D0CD23CD0A2}"/>
              </a:ext>
            </a:extLst>
          </p:cNvPr>
          <p:cNvSpPr txBox="1"/>
          <p:nvPr/>
        </p:nvSpPr>
        <p:spPr>
          <a:xfrm>
            <a:off x="7553130" y="1967208"/>
            <a:ext cx="612476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Backup Mode (9V ON):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C6BFEE"/>
                </a:solidFill>
              </a:rPr>
              <a:t>Output Voltage: ( 9V - 0.7V = 8.3V 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C6BFEE"/>
                </a:solidFill>
              </a:rPr>
              <a:t>Resistor Voltage: ( 8.3V - 2V = 6.3V 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C6BFEE"/>
                </a:solidFill>
              </a:rPr>
              <a:t>Battery Current: Same as LED current (battery powers load).</a:t>
            </a:r>
          </a:p>
        </p:txBody>
      </p:sp>
      <p:sp>
        <p:nvSpPr>
          <p:cNvPr id="3" name="Text 0"/>
          <p:cNvSpPr/>
          <p:nvPr/>
        </p:nvSpPr>
        <p:spPr>
          <a:xfrm>
            <a:off x="773668" y="837843"/>
            <a:ext cx="11581924" cy="614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Results &amp; Analysis</a:t>
            </a:r>
            <a:endParaRPr lang="en-US" sz="3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0581" y="1431727"/>
            <a:ext cx="1188029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Discussion: Project Reflections</a:t>
            </a:r>
            <a:endParaRPr lang="en-US" sz="4300">
              <a:solidFill>
                <a:srgbClr val="C6BFEE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24496" y="261127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05" y="2683192"/>
            <a:ext cx="329089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6739" y="269605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Prompt Medium" pitchFamily="34" charset="-122"/>
                <a:cs typeface="Times New Roman" panose="02020603050405020304" pitchFamily="18" charset="0"/>
              </a:rPr>
              <a:t>Advantages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526739" y="3187065"/>
            <a:ext cx="329279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ukta Light" pitchFamily="34" charset="-122"/>
                <a:cs typeface="Times New Roman" panose="02020603050405020304" pitchFamily="18" charset="0"/>
              </a:rPr>
              <a:t>Compact and cost-effective.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26739" y="3668435"/>
            <a:ext cx="329279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ukta Light" pitchFamily="34" charset="-122"/>
                <a:cs typeface="Times New Roman" panose="02020603050405020304" pitchFamily="18" charset="0"/>
              </a:rPr>
              <a:t>Automatic, near-instantaneous switchover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526739" y="4544854"/>
            <a:ext cx="329279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ukta Light" pitchFamily="34" charset="-122"/>
                <a:cs typeface="Times New Roman" panose="02020603050405020304" pitchFamily="18" charset="0"/>
              </a:rPr>
              <a:t>Scalable concept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066348" y="2667000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624" y="2738913"/>
            <a:ext cx="329089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62757" y="275177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Prompt Medium" pitchFamily="34" charset="-122"/>
                <a:cs typeface="Times New Roman" panose="02020603050405020304" pitchFamily="18" charset="0"/>
              </a:rPr>
              <a:t>Limitations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862757" y="3242786"/>
            <a:ext cx="329279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ukta Light" pitchFamily="34" charset="-122"/>
                <a:cs typeface="Times New Roman" panose="02020603050405020304" pitchFamily="18" charset="0"/>
              </a:rPr>
              <a:t>Output voltage ripple during high loads.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862757" y="4119205"/>
            <a:ext cx="329279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battery charging mechanism</a:t>
            </a:r>
          </a:p>
        </p:txBody>
      </p:sp>
      <p:sp>
        <p:nvSpPr>
          <p:cNvPr id="14" name="Text 10"/>
          <p:cNvSpPr/>
          <p:nvPr/>
        </p:nvSpPr>
        <p:spPr>
          <a:xfrm>
            <a:off x="5862757" y="4995624"/>
            <a:ext cx="329279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Diode will drop 0.7 volt will reduce efficiency</a:t>
            </a:r>
          </a:p>
        </p:txBody>
      </p:sp>
      <p:sp>
        <p:nvSpPr>
          <p:cNvPr id="15" name="Shape 11"/>
          <p:cNvSpPr/>
          <p:nvPr/>
        </p:nvSpPr>
        <p:spPr>
          <a:xfrm>
            <a:off x="9810870" y="270240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3979" y="2774314"/>
            <a:ext cx="329089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613113" y="278717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Prompt Medium" pitchFamily="34" charset="-122"/>
                <a:cs typeface="Times New Roman" panose="02020603050405020304" pitchFamily="18" charset="0"/>
              </a:rPr>
              <a:t>Improvements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0613113" y="3278187"/>
            <a:ext cx="329279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ukta Light" pitchFamily="34" charset="-122"/>
                <a:cs typeface="Times New Roman" panose="02020603050405020304" pitchFamily="18" charset="0"/>
              </a:rPr>
              <a:t>Integrate a battery charging circuit.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0613113" y="4154606"/>
            <a:ext cx="329279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ukta Light" pitchFamily="34" charset="-122"/>
                <a:cs typeface="Times New Roman" panose="02020603050405020304" pitchFamily="18" charset="0"/>
              </a:rPr>
              <a:t>To reduce power loss use MOSFET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0613113" y="5031025"/>
            <a:ext cx="329279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Upgrade to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recharegable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battery and larger capacitor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07988-8EBB-6221-F6EF-A8EFEEE1C9FA}"/>
              </a:ext>
            </a:extLst>
          </p:cNvPr>
          <p:cNvSpPr txBox="1"/>
          <p:nvPr/>
        </p:nvSpPr>
        <p:spPr>
          <a:xfrm>
            <a:off x="334537" y="669073"/>
            <a:ext cx="140059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6BFEE"/>
                </a:solidFill>
                <a:latin typeface="Prompt Medium" panose="00000600000000000000" pitchFamily="2" charset="-34"/>
                <a:cs typeface="Prompt Medium" panose="00000600000000000000" pitchFamily="2" charset="-34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FE993-3C18-DED7-4533-5C62B68F2A93}"/>
              </a:ext>
            </a:extLst>
          </p:cNvPr>
          <p:cNvSpPr txBox="1"/>
          <p:nvPr/>
        </p:nvSpPr>
        <p:spPr>
          <a:xfrm>
            <a:off x="1059366" y="1706137"/>
            <a:ext cx="1235555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Mini UPS circuit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demonstrated uninterrupted power delivery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intelligently combining a 12V main supply, a 9V backup battery, and a 1000µF capacitor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diodes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effectively managed automatic source selection blocking reverse currents and enabling seamless switchover without any manual control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capacitor acted as a short-term energy buffer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bridging the gap between the main supply cutoff and the battery taking over, preventing any sudden interruption to the load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closely matched theoretical calculations,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validating the circuit design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reinforcing the reliability of diode-capacitor based backup systems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highlights that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small, well-chosen components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create efficient, reliable power solutions a foundational concept in power electronics and embedded systems design</a:t>
            </a:r>
          </a:p>
        </p:txBody>
      </p:sp>
    </p:spTree>
    <p:extLst>
      <p:ext uri="{BB962C8B-B14F-4D97-AF65-F5344CB8AC3E}">
        <p14:creationId xmlns:p14="http://schemas.microsoft.com/office/powerpoint/2010/main" val="2353630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F8DC81-CD2A-739F-ED06-4EDCAD095417}"/>
              </a:ext>
            </a:extLst>
          </p:cNvPr>
          <p:cNvSpPr txBox="1"/>
          <p:nvPr/>
        </p:nvSpPr>
        <p:spPr>
          <a:xfrm>
            <a:off x="1670050" y="4718051"/>
            <a:ext cx="11455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your attention. Please feel free to ask any questions you may have. We are here to answer them and engage in a productive discussion</a:t>
            </a: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2E97F-39CA-EC83-CE1F-C951AAC0E33B}"/>
              </a:ext>
            </a:extLst>
          </p:cNvPr>
          <p:cNvSpPr txBox="1"/>
          <p:nvPr/>
        </p:nvSpPr>
        <p:spPr>
          <a:xfrm>
            <a:off x="1873250" y="3032661"/>
            <a:ext cx="11303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</a:rPr>
              <a:t>THANK YOU </a:t>
            </a:r>
            <a:r>
              <a:rPr lang="en-US" sz="8000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US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799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ce17912-36d6-436f-b06d-5c160facf53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89CFF554BDA940A19FE269A85F091B" ma:contentTypeVersion="10" ma:contentTypeDescription="Create a new document." ma:contentTypeScope="" ma:versionID="14670c567e5a171d80e6351ca9ac81eb">
  <xsd:schema xmlns:xsd="http://www.w3.org/2001/XMLSchema" xmlns:xs="http://www.w3.org/2001/XMLSchema" xmlns:p="http://schemas.microsoft.com/office/2006/metadata/properties" xmlns:ns3="2ce17912-36d6-436f-b06d-5c160facf530" targetNamespace="http://schemas.microsoft.com/office/2006/metadata/properties" ma:root="true" ma:fieldsID="0ba11730a711b80c01b1298786c199e2" ns3:_="">
    <xsd:import namespace="2ce17912-36d6-436f-b06d-5c160facf53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e17912-36d6-436f-b06d-5c160facf53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2AD04D-8B02-4ADB-BF93-FACA8A64ED33}">
  <ds:schemaRefs>
    <ds:schemaRef ds:uri="http://schemas.microsoft.com/office/2006/metadata/properties"/>
    <ds:schemaRef ds:uri="http://purl.org/dc/elements/1.1/"/>
    <ds:schemaRef ds:uri="http://schemas.microsoft.com/office/infopath/2007/PartnerControls"/>
    <ds:schemaRef ds:uri="2ce17912-36d6-436f-b06d-5c160facf530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2678CDA-53D9-4D45-8A0A-769F56284B64}">
  <ds:schemaRefs>
    <ds:schemaRef ds:uri="2ce17912-36d6-436f-b06d-5c160facf53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7D004F2-2CE9-4F40-8631-4E8D14BA54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779</Words>
  <Application>Microsoft Office PowerPoint</Application>
  <PresentationFormat>Custom</PresentationFormat>
  <Paragraphs>122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Prompt Medium</vt:lpstr>
      <vt:lpstr>Wingdings</vt:lpstr>
      <vt:lpstr>Mukta Light</vt:lpstr>
      <vt:lpstr>Roboto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Wasifur Rahman</dc:creator>
  <cp:lastModifiedBy>MD RAFIT</cp:lastModifiedBy>
  <cp:revision>10</cp:revision>
  <dcterms:created xsi:type="dcterms:W3CDTF">2025-09-13T14:23:40Z</dcterms:created>
  <dcterms:modified xsi:type="dcterms:W3CDTF">2026-08-29T13:25:38Z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0x0101004E89CFF554BDA940A19FE269A85F091B</vt:lpwstr>
  </property>
</Properties>
</file>